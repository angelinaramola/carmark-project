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87" r:id="rId6"/>
    <p:sldId id="291" r:id="rId7"/>
    <p:sldId id="266" r:id="rId8"/>
    <p:sldId id="292" r:id="rId9"/>
    <p:sldId id="294" r:id="rId10"/>
    <p:sldId id="295" r:id="rId11"/>
    <p:sldId id="296" r:id="rId12"/>
    <p:sldId id="29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A8ABF2-0E2E-1C41-82DB-24AFFC3A8D9D}" v="17" dt="2025-12-02T14:39:48.944"/>
    <p1510:client id="{690ECA79-6ECB-9D3D-AD80-9A4B88E25D44}" v="343" dt="2025-12-02T22:40:57.172"/>
    <p1510:client id="{82EF8197-C6A5-FDA2-4E6E-2DA001AD1F0A}" v="1597" dt="2025-12-03T00:25:12.217"/>
    <p1510:client id="{F728A847-2C89-1121-32F7-C62478392027}" v="199" dt="2025-12-02T22:08:46.4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CD9B9-7917-1242-3C54-9D958F5B6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ACB1B2-EF11-16E4-BCAE-9EA7564F6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27BCB7-07B3-1284-C717-27B88B736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E0DC4-5500-559E-FE19-836677DE67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134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683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3429000"/>
            <a:ext cx="4941771" cy="3200400"/>
          </a:xfrm>
        </p:spPr>
        <p:txBody>
          <a:bodyPr anchor="ctr"/>
          <a:lstStyle/>
          <a:p>
            <a:r>
              <a:rPr lang="en-US" err="1"/>
              <a:t>Carmark</a:t>
            </a:r>
            <a:br>
              <a:rPr lang="en-US"/>
            </a:br>
            <a:br>
              <a:rPr lang="en-US"/>
            </a:br>
            <a:r>
              <a:rPr lang="en-US" sz="1600"/>
              <a:t>Angelina ramola and Nathan Cmeyla</a:t>
            </a:r>
            <a:endParaRPr lang="en-US"/>
          </a:p>
        </p:txBody>
      </p:sp>
      <p:pic>
        <p:nvPicPr>
          <p:cNvPr id="6" name="Graphic 5" descr="Car outline">
            <a:extLst>
              <a:ext uri="{FF2B5EF4-FFF2-40B4-BE49-F238E27FC236}">
                <a16:creationId xmlns:a16="http://schemas.microsoft.com/office/drawing/2014/main" id="{C67989F2-1FAE-32B5-8CAE-38FBC144A7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0696" y="2312285"/>
            <a:ext cx="786157" cy="786157"/>
          </a:xfrm>
          <a:prstGeom prst="rect">
            <a:avLst/>
          </a:prstGeom>
        </p:spPr>
      </p:pic>
      <p:pic>
        <p:nvPicPr>
          <p:cNvPr id="8" name="Graphic 7" descr="Race Car outline">
            <a:extLst>
              <a:ext uri="{FF2B5EF4-FFF2-40B4-BE49-F238E27FC236}">
                <a16:creationId xmlns:a16="http://schemas.microsoft.com/office/drawing/2014/main" id="{7C50DD39-A1E3-2A65-786D-3C972AC2DD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96575" y="3154905"/>
            <a:ext cx="914400" cy="914400"/>
          </a:xfrm>
          <a:prstGeom prst="rect">
            <a:avLst/>
          </a:prstGeom>
        </p:spPr>
      </p:pic>
      <p:pic>
        <p:nvPicPr>
          <p:cNvPr id="10" name="Graphic 9" descr="Electric car outline">
            <a:extLst>
              <a:ext uri="{FF2B5EF4-FFF2-40B4-BE49-F238E27FC236}">
                <a16:creationId xmlns:a16="http://schemas.microsoft.com/office/drawing/2014/main" id="{318A721B-6443-6236-2316-30CA2D7B91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96575" y="419961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4DEF1-463B-D6A6-CDC9-824CF71DD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6AFE7-39A8-B4CA-B933-B5C33F2BD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>
            <a:normAutofit/>
          </a:bodyPr>
          <a:lstStyle/>
          <a:p>
            <a:r>
              <a:rPr lang="en-US"/>
              <a:t>Problem and Business objective</a:t>
            </a:r>
            <a:br>
              <a:rPr lang="en-US"/>
            </a:b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C122F-5981-98F4-81F6-E531471C0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180900"/>
            <a:ext cx="7288212" cy="340705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400"/>
              <a:t>Problem Statement:</a:t>
            </a:r>
            <a:br>
              <a:rPr lang="en-US" sz="1400"/>
            </a:br>
            <a:r>
              <a:rPr lang="en-US" sz="1400" b="0" err="1">
                <a:ea typeface="+mn-lt"/>
                <a:cs typeface="+mn-lt"/>
              </a:rPr>
              <a:t>CarMark</a:t>
            </a:r>
            <a:r>
              <a:rPr lang="en-US" sz="1400" b="0">
                <a:ea typeface="+mn-lt"/>
                <a:cs typeface="+mn-lt"/>
              </a:rPr>
              <a:t> currently relies on scattered spreadsheets and manual notes to track customer information, making it difficult to analyze trends, personalize outreach, and integrate data into modern analytics tools</a:t>
            </a:r>
            <a:endParaRPr lang="en-US" sz="1400" b="0"/>
          </a:p>
          <a:p>
            <a:r>
              <a:rPr lang="en-US" sz="1400"/>
              <a:t>Business Objective:</a:t>
            </a:r>
          </a:p>
          <a:p>
            <a:r>
              <a:rPr lang="en-US" sz="1400" b="0" err="1"/>
              <a:t>CarMark</a:t>
            </a:r>
            <a:r>
              <a:rPr lang="en-US" sz="1400" b="0"/>
              <a:t> is a local automotive dealership looking to optimize car sales </a:t>
            </a:r>
            <a:r>
              <a:rPr lang="en-US" sz="1400" b="0">
                <a:ea typeface="+mn-lt"/>
                <a:cs typeface="+mn-lt"/>
              </a:rPr>
              <a:t>by building a centralized relational database that organizes customer information to support personalized sales and marketing strategies</a:t>
            </a:r>
          </a:p>
          <a:p>
            <a:r>
              <a:rPr lang="en-US" sz="1400"/>
              <a:t>Key Goals: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1400" b="0"/>
              <a:t>Collect customer information in a database that including </a:t>
            </a:r>
            <a:r>
              <a:rPr lang="en-US" sz="1400" b="0">
                <a:ea typeface="+mn-lt"/>
                <a:cs typeface="+mn-lt"/>
              </a:rPr>
              <a:t>lifestyle traits, vehicle ownership history, purchasing behavior,</a:t>
            </a:r>
            <a:r>
              <a:rPr lang="en-US" sz="1400" b="0"/>
              <a:t> financial information, etc.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1400" b="0"/>
              <a:t>Segment customers into categories; all segment categories tracked through propensity scores</a:t>
            </a:r>
            <a:endParaRPr lang="en-US" sz="140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1400" b="0">
                <a:ea typeface="+mn-lt"/>
                <a:cs typeface="+mn-lt"/>
              </a:rPr>
              <a:t>Assign financial tiers to each customer via analytical model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1400" b="0">
                <a:ea typeface="+mn-lt"/>
                <a:cs typeface="+mn-lt"/>
              </a:rPr>
              <a:t>Enable analytics for predicting purchase intent and improving marketing effectiveness</a:t>
            </a:r>
            <a:endParaRPr lang="en-US" sz="1400" b="0"/>
          </a:p>
          <a:p>
            <a:pPr marL="285750" indent="-285750">
              <a:buFont typeface="Calibri" panose="020B0604020202020204" pitchFamily="34" charset="0"/>
              <a:buChar char="-"/>
            </a:pPr>
            <a:endParaRPr lang="en-US" sz="1400" b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CAB5416-123C-4B4D-283E-B3FA54E23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4" name="Graphic 3" descr="Car outline">
            <a:extLst>
              <a:ext uri="{FF2B5EF4-FFF2-40B4-BE49-F238E27FC236}">
                <a16:creationId xmlns:a16="http://schemas.microsoft.com/office/drawing/2014/main" id="{A8B65FBC-5162-7983-64BF-75A358E80C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0296" y="369185"/>
            <a:ext cx="786157" cy="786157"/>
          </a:xfrm>
          <a:prstGeom prst="rect">
            <a:avLst/>
          </a:prstGeom>
        </p:spPr>
      </p:pic>
      <p:pic>
        <p:nvPicPr>
          <p:cNvPr id="5" name="Graphic 4" descr="Race Car outline">
            <a:extLst>
              <a:ext uri="{FF2B5EF4-FFF2-40B4-BE49-F238E27FC236}">
                <a16:creationId xmlns:a16="http://schemas.microsoft.com/office/drawing/2014/main" id="{4564BC6D-8E29-D321-B075-2B921E4A01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57825" y="305063"/>
            <a:ext cx="914400" cy="914400"/>
          </a:xfrm>
          <a:prstGeom prst="rect">
            <a:avLst/>
          </a:prstGeom>
        </p:spPr>
      </p:pic>
      <p:pic>
        <p:nvPicPr>
          <p:cNvPr id="6" name="Graphic 5" descr="Electric car outline">
            <a:extLst>
              <a:ext uri="{FF2B5EF4-FFF2-40B4-BE49-F238E27FC236}">
                <a16:creationId xmlns:a16="http://schemas.microsoft.com/office/drawing/2014/main" id="{31A00BE6-C09D-4F25-BD38-438FFD42DB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93597" y="3050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144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041CC-72C6-1A02-1B81-100C0380D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/>
              <a:t>Key refinements since midterm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543BB-03DE-72CB-81DD-A26ADC95132B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286500" y="1881188"/>
            <a:ext cx="5067300" cy="43525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/>
            <a:endParaRPr lang="en-US" sz="2200" b="0" kern="1200"/>
          </a:p>
          <a:p>
            <a:pPr marL="0" indent="-285750">
              <a:buFont typeface="Wingdings" panose="020B0604020202020204" pitchFamily="34" charset="0"/>
              <a:buChar char="ü"/>
            </a:pPr>
            <a:r>
              <a:rPr lang="en-US" sz="2200" b="0" kern="1200"/>
              <a:t>Effective-Dated Historical Tables </a:t>
            </a:r>
          </a:p>
          <a:p>
            <a:pPr marL="0" lvl="1">
              <a:buFont typeface="Courier New" panose="020B0604020202020204" pitchFamily="34" charset="0"/>
              <a:buChar char="o"/>
            </a:pPr>
            <a:r>
              <a:rPr lang="en-US" sz="2200" kern="1200"/>
              <a:t>SCD2 implemented</a:t>
            </a:r>
            <a:endParaRPr lang="en-US" sz="2200" b="0" kern="1200"/>
          </a:p>
          <a:p>
            <a:pPr marL="0" indent="-285750">
              <a:buFont typeface="Wingdings" panose="020B0604020202020204" pitchFamily="34" charset="0"/>
              <a:buChar char="ü"/>
            </a:pPr>
            <a:r>
              <a:rPr lang="en-US" sz="2200" b="0" kern="1200"/>
              <a:t>Static 'Age' field -&gt; Dynamic 'DOB'</a:t>
            </a:r>
          </a:p>
          <a:p>
            <a:pPr marL="0" indent="-285750">
              <a:buFont typeface="Wingdings" panose="020B0604020202020204" pitchFamily="34" charset="0"/>
              <a:buChar char="ü"/>
            </a:pPr>
            <a:r>
              <a:rPr lang="en-US" sz="2200" b="0" kern="1200"/>
              <a:t>Detailed financial qualifications/limits</a:t>
            </a:r>
          </a:p>
          <a:p>
            <a:pPr marL="0" indent="-285750">
              <a:buFont typeface="Wingdings" panose="020B0604020202020204" pitchFamily="34" charset="0"/>
              <a:buChar char="ü"/>
            </a:pPr>
            <a:r>
              <a:rPr lang="en-US" sz="2200" b="0" kern="1200"/>
              <a:t>No overwriting, fill history preserved</a:t>
            </a:r>
          </a:p>
          <a:p>
            <a:pPr marL="0" indent="-285750">
              <a:buFont typeface="Wingdings" panose="020B0604020202020204" pitchFamily="34" charset="0"/>
              <a:buChar char="ü"/>
            </a:pPr>
            <a:r>
              <a:rPr lang="en-US" sz="2200"/>
              <a:t>Financial Analytical Model </a:t>
            </a:r>
            <a:endParaRPr lang="en-US" sz="2200" b="0" kern="1200"/>
          </a:p>
          <a:p>
            <a:pPr marL="0" indent="-342900">
              <a:buFont typeface="Wingdings" panose="020B0604020202020204" pitchFamily="34" charset="0"/>
              <a:buChar char="ü"/>
            </a:pPr>
            <a:endParaRPr lang="en-US" sz="2200" b="0" kern="1200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8ADCFBC0-7E25-1F6A-1BFE-0CE2A6D3069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6" name="Picture 5" descr="A diagram of a process&#10;&#10;AI-generated content may be incorrect.">
            <a:extLst>
              <a:ext uri="{FF2B5EF4-FFF2-40B4-BE49-F238E27FC236}">
                <a16:creationId xmlns:a16="http://schemas.microsoft.com/office/drawing/2014/main" id="{540B99E1-D5AB-18EC-2596-BB4B31098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45" y="2055963"/>
            <a:ext cx="5071694" cy="3335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059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B8313-9270-4128-8674-3A3E42B8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876300"/>
            <a:ext cx="5246255" cy="1709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diagram of a computer&#10;&#10;AI-generated content may be incorrect.">
            <a:extLst>
              <a:ext uri="{FF2B5EF4-FFF2-40B4-BE49-F238E27FC236}">
                <a16:creationId xmlns:a16="http://schemas.microsoft.com/office/drawing/2014/main" id="{9850762B-CFE6-3C0A-70F7-9A1A4221D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" y="0"/>
            <a:ext cx="12190430" cy="68580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118CE8F-1A3C-52EF-64A9-2A4A123DAB13}"/>
              </a:ext>
            </a:extLst>
          </p:cNvPr>
          <p:cNvCxnSpPr/>
          <p:nvPr/>
        </p:nvCxnSpPr>
        <p:spPr>
          <a:xfrm flipH="1" flipV="1">
            <a:off x="5189985" y="3573486"/>
            <a:ext cx="4825" cy="5450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5B85A69-F8ED-B190-280A-922562FC45C1}"/>
              </a:ext>
            </a:extLst>
          </p:cNvPr>
          <p:cNvCxnSpPr>
            <a:cxnSpLocks/>
          </p:cNvCxnSpPr>
          <p:nvPr/>
        </p:nvCxnSpPr>
        <p:spPr>
          <a:xfrm flipH="1" flipV="1">
            <a:off x="8266922" y="5107131"/>
            <a:ext cx="757177" cy="49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D7B6EF3-9AA3-3569-2BA5-F775FD946610}"/>
              </a:ext>
            </a:extLst>
          </p:cNvPr>
          <p:cNvCxnSpPr>
            <a:cxnSpLocks/>
          </p:cNvCxnSpPr>
          <p:nvPr/>
        </p:nvCxnSpPr>
        <p:spPr>
          <a:xfrm flipH="1">
            <a:off x="10504695" y="6047664"/>
            <a:ext cx="815051" cy="4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0873100-37F9-EBCF-13A2-FE4023BBEA6E}"/>
              </a:ext>
            </a:extLst>
          </p:cNvPr>
          <p:cNvCxnSpPr>
            <a:cxnSpLocks/>
          </p:cNvCxnSpPr>
          <p:nvPr/>
        </p:nvCxnSpPr>
        <p:spPr>
          <a:xfrm flipH="1">
            <a:off x="11527123" y="1215234"/>
            <a:ext cx="4825" cy="5159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EC01CA9-63FC-516B-0AA2-4D1524085D45}"/>
              </a:ext>
            </a:extLst>
          </p:cNvPr>
          <p:cNvCxnSpPr>
            <a:cxnSpLocks/>
          </p:cNvCxnSpPr>
          <p:nvPr/>
        </p:nvCxnSpPr>
        <p:spPr>
          <a:xfrm>
            <a:off x="9699291" y="1466021"/>
            <a:ext cx="4820" cy="4773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861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2A4C0-233A-6E97-55EA-7F7D58719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Lead Lifecycle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59935A14-4AD3-90EF-8322-4D75B1E40DD3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306806" y="1670224"/>
            <a:ext cx="8239625" cy="468388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b="1"/>
              <a:t>1. New Lead Creation</a:t>
            </a:r>
            <a:endParaRPr lang="en-US"/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en-US">
                <a:ea typeface="+mn-lt"/>
                <a:cs typeface="+mn-lt"/>
              </a:rPr>
              <a:t>Lead enters via online form or in-person visit</a:t>
            </a:r>
            <a:endParaRPr lang="en-US"/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en-US">
                <a:ea typeface="+mn-lt"/>
                <a:cs typeface="+mn-lt"/>
              </a:rPr>
              <a:t>Initial consultation captures customer profile, lifestyle traits, interests, and intent</a:t>
            </a:r>
            <a:endParaRPr lang="en-US" b="1"/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en-US">
                <a:ea typeface="+mn-lt"/>
                <a:cs typeface="+mn-lt"/>
              </a:rPr>
              <a:t>Data stored using effective-dated (SCD2) structures for long-term history</a:t>
            </a:r>
            <a:endParaRPr lang="en-US"/>
          </a:p>
          <a:p>
            <a:pPr algn="l"/>
            <a:r>
              <a:rPr lang="en-US" b="1"/>
              <a:t>2. Analytical Scoring and Targeted Outreach</a:t>
            </a:r>
            <a:endParaRPr lang="en-US"/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en-US">
                <a:ea typeface="+mn-lt"/>
                <a:cs typeface="+mn-lt"/>
              </a:rPr>
              <a:t>Segmentation Propensity Model: assigns likelihood of belonging to each of the behavioral segments</a:t>
            </a:r>
            <a:endParaRPr lang="en-US" b="1"/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en-US">
                <a:ea typeface="+mn-lt"/>
                <a:cs typeface="+mn-lt"/>
              </a:rPr>
              <a:t>Financial Tier Model: computes spending capacity and assigns Tier 1–5</a:t>
            </a:r>
            <a:endParaRPr lang="en-US"/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en-US">
                <a:ea typeface="+mn-lt"/>
                <a:cs typeface="+mn-lt"/>
              </a:rPr>
              <a:t>Snowflake enables fast joins between models to inform personalized engagement strategies</a:t>
            </a:r>
            <a:endParaRPr lang="en-US"/>
          </a:p>
          <a:p>
            <a:pPr algn="l"/>
            <a:r>
              <a:rPr lang="en-US" b="1"/>
              <a:t>3. Lead Conversion</a:t>
            </a:r>
            <a:endParaRPr lang="en-US"/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en-US">
                <a:ea typeface="+mn-lt"/>
                <a:cs typeface="+mn-lt"/>
              </a:rPr>
              <a:t>Purchase triggers creation of </a:t>
            </a:r>
            <a:r>
              <a:rPr lang="en-US" err="1">
                <a:ea typeface="+mn-lt"/>
                <a:cs typeface="+mn-lt"/>
              </a:rPr>
              <a:t>CustomerPurchase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CustomerVehicle</a:t>
            </a:r>
            <a:r>
              <a:rPr lang="en-US">
                <a:ea typeface="+mn-lt"/>
                <a:cs typeface="+mn-lt"/>
              </a:rPr>
              <a:t>, and </a:t>
            </a:r>
            <a:r>
              <a:rPr lang="en-US" err="1">
                <a:ea typeface="+mn-lt"/>
                <a:cs typeface="+mn-lt"/>
              </a:rPr>
              <a:t>PreferenceSwitch</a:t>
            </a:r>
            <a:r>
              <a:rPr lang="en-US">
                <a:ea typeface="+mn-lt"/>
                <a:cs typeface="+mn-lt"/>
              </a:rPr>
              <a:t> records</a:t>
            </a:r>
            <a:endParaRPr lang="en-US" b="1"/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en-US">
                <a:ea typeface="+mn-lt"/>
                <a:cs typeface="+mn-lt"/>
              </a:rPr>
              <a:t>Any updates to finances, interests, or behaviors create new SCD2 rows without overwriting prior values</a:t>
            </a:r>
            <a:endParaRPr lang="en-US"/>
          </a:p>
          <a:p>
            <a:pPr algn="l"/>
            <a:r>
              <a:rPr lang="en-US" b="1">
                <a:ea typeface="+mn-lt"/>
                <a:cs typeface="+mn-lt"/>
              </a:rPr>
              <a:t>4. Re-Entry as Future Lead</a:t>
            </a:r>
            <a:endParaRPr lang="en-US" b="1"/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en-US">
                <a:ea typeface="+mn-lt"/>
                <a:cs typeface="+mn-lt"/>
              </a:rPr>
              <a:t>Customers re-enter the funnel as life events or financial situations change</a:t>
            </a:r>
            <a:endParaRPr lang="en-US"/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en-US">
                <a:ea typeface="+mn-lt"/>
                <a:cs typeface="+mn-lt"/>
              </a:rPr>
              <a:t>Full historical tracking supports ongoing retention, remarketing, and future model updates</a:t>
            </a:r>
            <a:endParaRPr lang="en-US"/>
          </a:p>
          <a:p>
            <a:pPr algn="l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0FFC9-E608-D4B3-D5B1-30CF8A3A5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3770F9E7-83BD-46A6-D437-583BE233A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6874" y="2499395"/>
            <a:ext cx="3600877" cy="237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451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C5F97-31E2-82A0-D326-81C78D6E3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726" y="2629"/>
            <a:ext cx="10515600" cy="1325563"/>
          </a:xfrm>
        </p:spPr>
        <p:txBody>
          <a:bodyPr/>
          <a:lstStyle/>
          <a:p>
            <a:r>
              <a:rPr lang="en-US" dirty="0"/>
              <a:t>SCD2 Merge example for updating customer</a:t>
            </a:r>
            <a:r>
              <a:rPr lang="en-US"/>
              <a:t> Propensity scores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9E824E3-A391-1CAF-0192-7AB0DEC6C0B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78AA0-50E6-2419-931D-EEC87B5EF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A8322D9-2DC7-D31E-70F5-42C35A994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0" y="1326444"/>
            <a:ext cx="12183569" cy="5525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280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5760C-7328-C718-0423-8FBC86630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Financial analytical Model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F141FD9A-6210-E9FF-3480-70BD5525295C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4FBBB-98B9-B429-02E2-15D616522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F31140-24A1-0418-9B7D-3192539E3BD7}"/>
              </a:ext>
            </a:extLst>
          </p:cNvPr>
          <p:cNvSpPr txBox="1"/>
          <p:nvPr/>
        </p:nvSpPr>
        <p:spPr>
          <a:xfrm>
            <a:off x="929794" y="2124363"/>
            <a:ext cx="8768387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err="1"/>
              <a:t>CarMark</a:t>
            </a:r>
            <a:r>
              <a:rPr lang="en-US"/>
              <a:t> uses an analytical model to assess customer affordability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The model takes raw customer financial data and assigns them weights to calculate </a:t>
            </a:r>
            <a:r>
              <a:rPr lang="en-US" err="1"/>
              <a:t>SpendingCapacityScore</a:t>
            </a: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 err="1"/>
              <a:t>SpendingCapacityScore</a:t>
            </a:r>
            <a:r>
              <a:rPr lang="en-US"/>
              <a:t> is then separated into 5 different tiers (premium, strong, moderate, limited, and restricted)</a:t>
            </a:r>
          </a:p>
          <a:p>
            <a:pPr marL="285750" indent="-285750">
              <a:buFont typeface="Calibri"/>
              <a:buChar char="-"/>
            </a:pPr>
            <a:endParaRPr lang="en-US"/>
          </a:p>
          <a:p>
            <a:r>
              <a:rPr lang="en-US"/>
              <a:t>The model formula:</a:t>
            </a:r>
          </a:p>
          <a:p>
            <a:endParaRPr lang="en-US">
              <a:ea typeface="+mn-lt"/>
              <a:cs typeface="+mn-lt"/>
            </a:endParaRPr>
          </a:p>
          <a:p>
            <a:r>
              <a:rPr lang="en-US" err="1">
                <a:ea typeface="+mn-lt"/>
                <a:cs typeface="+mn-lt"/>
              </a:rPr>
              <a:t>SCI_raw</a:t>
            </a:r>
            <a:r>
              <a:rPr lang="en-US">
                <a:ea typeface="+mn-lt"/>
                <a:cs typeface="+mn-lt"/>
              </a:rPr>
              <a:t> =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 (Income × 0.0004)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+ (Budget × 0.01)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+ (</a:t>
            </a:r>
            <a:r>
              <a:rPr lang="en-US" err="1">
                <a:ea typeface="+mn-lt"/>
                <a:cs typeface="+mn-lt"/>
              </a:rPr>
              <a:t>PreApprovalAmount</a:t>
            </a:r>
            <a:r>
              <a:rPr lang="en-US">
                <a:ea typeface="+mn-lt"/>
                <a:cs typeface="+mn-lt"/>
              </a:rPr>
              <a:t> × 0.0003)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– (</a:t>
            </a:r>
            <a:r>
              <a:rPr lang="en-US" err="1">
                <a:ea typeface="+mn-lt"/>
                <a:cs typeface="+mn-lt"/>
              </a:rPr>
              <a:t>DebtAmount</a:t>
            </a:r>
            <a:r>
              <a:rPr lang="en-US">
                <a:ea typeface="+mn-lt"/>
                <a:cs typeface="+mn-lt"/>
              </a:rPr>
              <a:t> × 0.0005)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+ </a:t>
            </a:r>
            <a:r>
              <a:rPr lang="en-US" err="1">
                <a:ea typeface="+mn-lt"/>
                <a:cs typeface="+mn-lt"/>
              </a:rPr>
              <a:t>CreditTierOffset</a:t>
            </a:r>
            <a:endParaRPr lang="en-US" err="1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80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05E03-331A-037E-F9F3-47B98A30A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Query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E416D8D4-4D43-0EA1-8461-C90FB83F768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C8DD5-3A71-F6B2-9DE8-9AAD740F2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270BDC01-5EB5-81D8-930F-9A6E20782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191" y="1708150"/>
            <a:ext cx="8611309" cy="3114321"/>
          </a:xfrm>
          <a:prstGeom prst="rect">
            <a:avLst/>
          </a:prstGeom>
        </p:spPr>
      </p:pic>
      <p:pic>
        <p:nvPicPr>
          <p:cNvPr id="6" name="Picture 5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608AF602-8212-D14D-456A-52F9DAFA8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022" y="4961754"/>
            <a:ext cx="10933289" cy="157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330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68A43-95E0-6413-F129-EA6670611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F185A-C5D3-9D8B-B530-2F88BB371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F9516-41CF-4365-38E8-329B4CFFC8C4}"/>
              </a:ext>
            </a:extLst>
          </p:cNvPr>
          <p:cNvSpPr txBox="1"/>
          <p:nvPr/>
        </p:nvSpPr>
        <p:spPr>
          <a:xfrm>
            <a:off x="1112488" y="1846132"/>
            <a:ext cx="99719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CarMark</a:t>
            </a:r>
            <a:r>
              <a:rPr lang="en-US" dirty="0">
                <a:ea typeface="+mn-lt"/>
                <a:cs typeface="+mn-lt"/>
              </a:rPr>
              <a:t> now has a scalable Snowflake data model with full history tracking, analytical models, and customer intelligence features to optimize sales and marketing campaigns and enhance company profitability.</a:t>
            </a:r>
          </a:p>
        </p:txBody>
      </p:sp>
      <p:pic>
        <p:nvPicPr>
          <p:cNvPr id="6" name="Picture 5" descr="A car logo on a black background&#10;&#10;AI-generated content may be incorrect.">
            <a:extLst>
              <a:ext uri="{FF2B5EF4-FFF2-40B4-BE49-F238E27FC236}">
                <a16:creationId xmlns:a16="http://schemas.microsoft.com/office/drawing/2014/main" id="{2BD2E03F-FA2B-F40F-BFF0-E9AC9B1C6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78" y="2641601"/>
            <a:ext cx="6858000" cy="388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53482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68DCE-134F-4610-A6AA-88CEBE8D71D2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5EDE3176-A15D-46A3-BDDB-64A0D7363224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36450eb-db06-42a7-8d1b-026719f701e3}" enabled="0" method="" siteId="{a36450eb-db06-42a7-8d1b-026719f701e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{A42F1FCE-79CA-412B-8AA5-8389FD41DA0E}TF7521aafa-c748-4c40-a498-ba511be234dc5b1b6097_win32-5039330bb2f3</Template>
  <TotalTime>0</TotalTime>
  <Words>444</Words>
  <Application>Microsoft Office PowerPoint</Application>
  <PresentationFormat>Widescreen</PresentationFormat>
  <Paragraphs>63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Courier New</vt:lpstr>
      <vt:lpstr>Tenorite</vt:lpstr>
      <vt:lpstr>Wingdings</vt:lpstr>
      <vt:lpstr>Custom</vt:lpstr>
      <vt:lpstr>Carmark  Angelina ramola and Nathan Cmeyla</vt:lpstr>
      <vt:lpstr>Problem and Business objective </vt:lpstr>
      <vt:lpstr>Key refinements since midterm</vt:lpstr>
      <vt:lpstr>PowerPoint Presentation</vt:lpstr>
      <vt:lpstr>Lead Lifecycle</vt:lpstr>
      <vt:lpstr>SCD2 Merge example for updating customer Propensity scores</vt:lpstr>
      <vt:lpstr>Financial analytical Model</vt:lpstr>
      <vt:lpstr>Example Query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Angelina Ramola</dc:creator>
  <cp:lastModifiedBy>ange ramola</cp:lastModifiedBy>
  <cp:revision>38</cp:revision>
  <dcterms:created xsi:type="dcterms:W3CDTF">2025-10-19T18:50:45Z</dcterms:created>
  <dcterms:modified xsi:type="dcterms:W3CDTF">2026-02-26T18:31:39Z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